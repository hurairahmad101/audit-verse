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0" y="457200"/>
            <a:ext cx="5120640" cy="5943600"/>
          </a:xfrm>
          <a:prstGeom prst="roundRect">
            <a:avLst>
              <a:gd name="adj" fmla="val 2000"/>
            </a:avLst>
          </a:prstGeom>
          <a:solidFill>
            <a:srgbClr val="121B32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777240"/>
            <a:ext cx="4572000" cy="411480"/>
          </a:xfrm>
          <a:prstGeom prst="roundRect">
            <a:avLst>
              <a:gd name="adj" fmla="val 15000"/>
            </a:avLst>
          </a:prstGeom>
          <a:solidFill>
            <a:srgbClr val="020617"/>
          </a:solidFill>
          <a:ln w="9525">
            <a:solidFill>
              <a:srgbClr val="182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850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8FAFC"/>
                </a:solidFill>
                <a:latin typeface="Calibri"/>
              </a:rPr>
              <a:t>AuditVerse.AI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850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22592" y="157276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15361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alibri"/>
              </a:rPr>
              <a:t>Open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18745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Calibri"/>
              </a:rPr>
              <a:t>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37160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54312" y="1572768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5361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alibri"/>
              </a:rPr>
              <a:t>Engagements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18745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Calibri"/>
              </a:rPr>
              <a:t>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2608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22592" y="31272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30906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alibri"/>
              </a:rPr>
              <a:t>Closure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429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Calibri"/>
              </a:rPr>
              <a:t>82%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92608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54312" y="31272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30906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alibri"/>
              </a:rPr>
              <a:t>Overdue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3429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8056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22592" y="4681728"/>
            <a:ext cx="146304" cy="146304"/>
          </a:xfrm>
          <a:prstGeom prst="ellipse">
            <a:avLst/>
          </a:prstGeom>
          <a:solidFill>
            <a:srgbClr val="A8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46451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alibri"/>
              </a:rPr>
              <a:t>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9834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Calibri"/>
              </a:rPr>
              <a:t>91%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448056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54312" y="468172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46451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94A3B8"/>
                </a:solidFill>
                <a:latin typeface="Calibri"/>
              </a:rPr>
              <a:t>Cycle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9834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Calibri"/>
              </a:rPr>
              <a:t>18d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914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AUDITVERSE.AI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128016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8FAFC"/>
                </a:solidFill>
                <a:latin typeface="Calibri"/>
              </a:rPr>
              <a:t>The audit</a:t>
            </a:r>
          </a:p>
          <a:p>
            <a:pPr algn="l">
              <a:lnSpc>
                <a:spcPct val="95000"/>
              </a:lnSpc>
            </a:pPr>
            <a:r>
              <a:rPr sz="5400" b="1">
                <a:solidFill>
                  <a:srgbClr val="F8FAFC"/>
                </a:solidFill>
                <a:latin typeface="Calibri"/>
              </a:rPr>
              <a:t>platform that</a:t>
            </a:r>
          </a:p>
          <a:p>
            <a:pPr algn="l">
              <a:lnSpc>
                <a:spcPct val="95000"/>
              </a:lnSpc>
            </a:pPr>
            <a:r>
              <a:rPr sz="5400" b="1">
                <a:solidFill>
                  <a:srgbClr val="F8FAFC"/>
                </a:solidFill>
                <a:latin typeface="Calibri"/>
              </a:rPr>
              <a:t>actually ships</a:t>
            </a:r>
          </a:p>
          <a:p>
            <a:pPr algn="l">
              <a:lnSpc>
                <a:spcPct val="95000"/>
              </a:lnSpc>
            </a:pPr>
            <a:r>
              <a:rPr sz="5400" b="1">
                <a:solidFill>
                  <a:srgbClr val="F8FAFC"/>
                </a:solidFill>
                <a:latin typeface="Calibri"/>
              </a:rPr>
              <a:t>findings.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389120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One workspace for the audit lifecycle — universe to engagement, workpaper to finding, escalation to closure.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Client Briefing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8FAFC"/>
                </a:solidFill>
                <a:latin typeface="Calibri"/>
              </a:rPr>
              <a:t>Internal audit runs on email, spreadsheets, and stale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4A3B8"/>
                </a:solidFill>
                <a:latin typeface="Calibri"/>
              </a:rPr>
              <a:t>Three groups feel the pain — and they don't see the same version of the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EXECUTIVES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No real-time view of audit coverage, open risks or remediation status.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Last quarter's deck is the only artifact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634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Audit committee learns of issues 60+ days late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303519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7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Assurance gaps invisible until something breaks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21945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1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AUDIT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26974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Spend 60% of cycle time copy-pasting between Word, Excel and email.</a:t>
            </a:r>
          </a:p>
        </p:txBody>
      </p:sp>
      <p:sp>
        <p:nvSpPr>
          <p:cNvPr id="18" name="Oval 17"/>
          <p:cNvSpPr/>
          <p:nvPr/>
        </p:nvSpPr>
        <p:spPr>
          <a:xfrm>
            <a:off x="4645151" y="402336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1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Workpaper review threads buried in inbox</a:t>
            </a:r>
          </a:p>
        </p:txBody>
      </p:sp>
      <p:sp>
        <p:nvSpPr>
          <p:cNvPr id="20" name="Oval 19"/>
          <p:cNvSpPr/>
          <p:nvPr/>
        </p:nvSpPr>
        <p:spPr>
          <a:xfrm>
            <a:off x="4645151" y="46634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1" y="45720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No standard CCCE structure across findings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1" y="530351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1" y="521207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Skill-to-engagement matching done in heads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3" y="21945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3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BUSINESS /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3" y="26974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Repeated requests for the same evidence, no visibility into status.</a:t>
            </a:r>
          </a:p>
        </p:txBody>
      </p:sp>
      <p:sp>
        <p:nvSpPr>
          <p:cNvPr id="27" name="Oval 26"/>
          <p:cNvSpPr/>
          <p:nvPr/>
        </p:nvSpPr>
        <p:spPr>
          <a:xfrm>
            <a:off x="8467343" y="4023360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0223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Same control re-audited from 3 angles</a:t>
            </a:r>
          </a:p>
        </p:txBody>
      </p:sp>
      <p:sp>
        <p:nvSpPr>
          <p:cNvPr id="29" name="Oval 28"/>
          <p:cNvSpPr/>
          <p:nvPr/>
        </p:nvSpPr>
        <p:spPr>
          <a:xfrm>
            <a:off x="8467343" y="4663440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3" y="45720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Action owners chase audit for due dates</a:t>
            </a:r>
          </a:p>
        </p:txBody>
      </p:sp>
      <p:sp>
        <p:nvSpPr>
          <p:cNvPr id="31" name="Oval 30"/>
          <p:cNvSpPr/>
          <p:nvPr/>
        </p:nvSpPr>
        <p:spPr>
          <a:xfrm>
            <a:off x="8467343" y="5303519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3" y="521207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No self-service to attest or push 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Seventeen modules. One workspace. The full audit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Each module is on the next slide. Here is the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87451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Universe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599" y="219456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599" y="2194560"/>
            <a:ext cx="187451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59" y="235915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59" y="257860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Plans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8" y="219456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8" y="2194560"/>
            <a:ext cx="187451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8" y="235915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8" y="257860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Engagements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17" y="219456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17" y="2194560"/>
            <a:ext cx="187451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7" y="235915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7" y="257860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Workpapers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76" y="219456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76" y="2194560"/>
            <a:ext cx="187451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36" y="235915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36" y="257860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Findings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35" y="219456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78435" y="2194560"/>
            <a:ext cx="187451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595" y="235915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5" y="257860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15468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54680"/>
            <a:ext cx="1874519" cy="54864"/>
          </a:xfrm>
          <a:prstGeom prst="rect">
            <a:avLst/>
          </a:prstGeom>
          <a:solidFill>
            <a:srgbClr val="A8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31927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Surveys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599" y="315468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14599" y="3154680"/>
            <a:ext cx="187451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59" y="331927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59" y="353872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Documents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8" y="315468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58" y="3154680"/>
            <a:ext cx="187451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18" y="331927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18" y="353872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Analytics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17" y="315468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46517" y="3154680"/>
            <a:ext cx="1874519" cy="54864"/>
          </a:xfrm>
          <a:prstGeom prst="rect">
            <a:avLst/>
          </a:prstGeom>
          <a:solidFill>
            <a:srgbClr val="A8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77" y="331927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7" y="353872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Portal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76" y="315468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76" y="3154680"/>
            <a:ext cx="187451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36" y="331927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36" y="353872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Charter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78435" y="315468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78435" y="3154680"/>
            <a:ext cx="187451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595" y="331927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595" y="353872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CCM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11480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114800"/>
            <a:ext cx="187451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27939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49884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Reporting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14599" y="411480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14599" y="4114800"/>
            <a:ext cx="187451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59" y="427939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59" y="449884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QAIP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80558" y="411480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80558" y="4114800"/>
            <a:ext cx="187451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17718" y="427939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18" y="449884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Test Scripts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46517" y="411480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46517" y="4114800"/>
            <a:ext cx="1874519" cy="54864"/>
          </a:xfrm>
          <a:prstGeom prst="rect">
            <a:avLst/>
          </a:prstGeom>
          <a:solidFill>
            <a:srgbClr val="A8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77" y="427939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77" y="449884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Skill Matrix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12476" y="4114800"/>
            <a:ext cx="1874519" cy="868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12476" y="4114800"/>
            <a:ext cx="1874519" cy="54864"/>
          </a:xfrm>
          <a:prstGeom prst="rect">
            <a:avLst/>
          </a:prstGeom>
          <a:solidFill>
            <a:srgbClr val="A8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49636" y="4279392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49636" y="4498848"/>
            <a:ext cx="1600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Audit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Risk-rated map of every auditable entity, refreshed continuously.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Auditable entities live in spreadsheets that are out of date the moment they're shared. Coverage gaps are invisible until the audit committee 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Universe gives executives a live heat map across business units, scored for inherent risk and last-audited recency. Assurance gaps surface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Tag entities by BU, geography, regulation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Inherent + residual risk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Coverage delta vs. last 12/24/36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Drill from heatmap to engagement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/audit/universe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uni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Audit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Risk-based annual planning, not a calendar exercise.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Annual plans get built in Excel, then drift the moment Q1 starts. There's no traceability from a plan slot back to the risk that justified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Plans turns the universe into a multi-year, risk-weighted schedule with budgeted hours, dependencies, and live status for every engagement slot.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Multi-year and rolling-12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Auto-suggest from universe risk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Hours budgeted vs. capacity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Approval workflow with audit committee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/audit/plans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Engagements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Run every engagement to one consistent shape.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Each lead auditor structures engagements differently. Reviewers can't tell, slot-to-slot, where time is being burned or where scope quietly grew.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Engagements gives every audit a standard scope, objectives, milestones, hours and team — with AI scope-drafting from the universe entry.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AI-drafted scope from entity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Budget vs. actual hours,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Standard milestones + workpaper 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Assurance gap badges from universe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/audit/engagements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engag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WORKPAPERS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Workpapers &amp;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Test procedures, evidence and review trail in one place.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Workpapers live in Word, evidence in shared drives, review notes in email. Reconstructing what happened months later is forensic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Workpapers structures every test (planning, walkthrough, analytical, interview) with a 4-stage sign-off chain: prepare → review → lead sign-off → close.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Standard procedure 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Inline evidence + cross-reference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Preparer / reviewer / lead signatures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Reject-and-return with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/audit/workpapers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workpa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Every finding written to the same CCCE structure.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Findings get rewritten by every reviewer because there's no shared template. Severity ratings drift between auditors. Recurring issues go undetected.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Findings enforces the IIA-aligned CCCE structure (Condition, Criteria, Cause, Effect), with AI-drafted condition statements and severity calibration.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AI-drafted CCCE from anomaly 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Severity calibration across the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Similar / recurring detection across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Bulk import + Excel template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/audit/findings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Issue Tracking &amp;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No more 'we'll chase that one next month'.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Once a finding has a due date, ownership tracking ends. Overdue issues sit unresolved because no one knows whose desk they're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Issues runs aging buckets, automatic 3-level escalation (reminder → manager → executive), and a single dashboard for everything overdue.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Aging buckets: 0-30, 30-60, 60-90, 90+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Auto-escalate from L1 → L2 → L3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Daily digest to action owners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Resolved-with-notes 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/audit/issues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SURVEYS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Surveys &amp; Self-Assessments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Pre-audit, post-audit, and CSA without SurveyMonkey.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Pre-audit questionnaires get sent in Outlook with a Word attachment. Responses arrive scattered, half complete, and need to be hand-tallied.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Surveys lets the team build pre-audit, post-audit, and control self-assessment surveys — with AI question generation tied to the engagement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AI-generated questions from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Pre/post-audit + CSA templates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Email distribution + reminders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Response dashboard +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/audit/surveys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surv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Document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One place for evidence, working papers, reports, charters.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Audit evidence lives in OneDrive, SharePoint, email and personal laptops. Confidentiality is enforced by hope. Retention is whatever default the drive 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Documents centralises every artefact with type, engagement linkage, confidentiality flag and full-text search — backed by the same access model as the rest of the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Tag by type, engagement, BU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Confidentiality flag with access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Full-text search across the corpus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Linked to workpapers +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/audit/documents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Audit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The numbers behind the assurance — not a quarterly slide.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Analytics today means rebuilding the same Excel pivot at the end of every quarter. Trends are guessed at; hard numbers arrive too late to act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Analytics ships a live coverage / velocity / closure / aging dashboard, sliced by BU, engagement type and severity — with drill-through to underlying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Coverage % by BU and risk 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Mean cycle time + closure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Findings opened vs. closed by quarter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Slice by severity, owner, theme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/audit/analytics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External Auditor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Give Big-4 a workspace, not a Dropbox link.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External auditors get a shared folder and a user account that's hard to revoke. Read-only is enforced by access groups that nobody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Portal gives external teams scoped, expiring, read-only access to exactly the engagements / workpapers / findings they need — with full activity logging.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Scoped to specific engagements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Expiry date + auto-revoke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Read-only with comment threads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Full activity log per external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/audit/portal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Audit Charter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Living charter, versioned, approved.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audit charter lives as a Word doc on the head of audit's laptop. Nobody knows which version is current. Committee approval is hunted in old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Charter holds the current and historical charter documents, with AI-assisted drafting, version comparison, and committee approval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AI drafting from IIA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Side-by-side version diff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Committee approval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Linked from every engagement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/audit/charter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h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CCM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Continuous Controls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Daily controls testing, not annual snapshots.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Most controls get tested once a year on a sample. Failures between tests go undetected for months. Internal audit and SecOps don't share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CCM runs scripted controls daily against source systems, surfaces exceptions, and feeds them into the audit findings backlog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Scripted controls per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Daily execution + alerting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Exception → finding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Time-series view per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/audit/ccm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The committee pack writes itself.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Quarterly reporting is two analysts and a week of PowerPoint. By the time it's done, half the numbers are stale and the layout has drifted from last quarter.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Reporting generates the committee pack from live data — heatmap, top findings, aging, coverage delta — in a branded template, in one click.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Branded PDF, one-click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Auto-refreshed snapshots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Drill-through to workpapers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Historical pack archive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/audit/reporting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QAIP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Quality Assurance &amp;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IIA-aligned QAIP that runs itself.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QAIP is the program everyone agrees they need and nobody runs. Internal assessments are sporadic; external EQAs surface preventable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QAIP holds internal/external assessment cycles, KPI tracking against IIA standards, and the conformance evidence the committee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Internal assessment scheduling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KPIs vs. target with targets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External EQA history +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Conformance statement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/audit/qaip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qa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TEST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Test Script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184 reusable scripts. Cloned, not retyped.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Every engagement re-writes the same MFA test, vendor SOC2 check, and access recertification procedure from memory. Quality varies wildly.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Test Scripts is a versioned library of reusable procedures, mapped to frameworks and categories, that auditors clone into a workpaper in two clicks.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Versioned, peer-reviewed library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Mapped to ISO, NIST, SOX, FATF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Clone-to-workpaper in two clicks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Category + framework filters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/audit/test-scripts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test-scri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SKILL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Skill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Match the right auditor to the right engagement.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Engagement staffing is done from memory. Junior auditors get put on cyber engagements they aren't ready for. Skills gaps surface only when work slips.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Skill Matrix tracks every auditor's competency × seniority, surfaces team-wide gaps, and suggests staffing for incoming engagements.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Competency × seniority heatmap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Gap detection at team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Staffing suggestions per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Training-plan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/audit/skill-matrix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skill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Calibri"/>
              </a:rPr>
              <a:t>Capacity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See over-allocation before it ships.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10996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Audit teams routinely commit to more hours than they have. The over-allocation surfaces in Q3 when something has to be deferred or descoped.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WITH AUDITVERSE.AI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Capacity reconciles planned engagement hours against auditor availability — daily, monthly, quarterly — and flags over-allocation before it bites.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Hours planned vs. available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68696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Per-auditor utilisation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61304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Forecast 1-2 quarters ahead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53912"/>
            <a:ext cx="73152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Replan or hire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965960"/>
            <a:ext cx="598932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1214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8" y="21214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496" y="21214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auditverse.ai  ·  /audit/capacity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395728"/>
            <a:ext cx="598932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66346"/>
            <a:ext cx="5623560" cy="31632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8FAFC"/>
                </a:solidFill>
                <a:latin typeface="Calibri"/>
              </a:rPr>
              <a:t>What AuditVerse.AI means in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Indicative impact for a 12-person internal audit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21945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10B981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less cycle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per engagement, planning to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97480" cy="21945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2860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less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writing/formatting, not auditing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2103120"/>
            <a:ext cx="2697480" cy="21945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2860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A85CF6"/>
                </a:solidFill>
                <a:latin typeface="Calibri"/>
              </a:rPr>
              <a:t>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audit-committee freshness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live numbers vs. quarterly pack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2103120"/>
            <a:ext cx="2697480" cy="21945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79" y="22860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59E0B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evidence retrievability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every workpaper indexed and signed 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11109960" cy="1554480"/>
          </a:xfrm>
          <a:prstGeom prst="roundRect">
            <a:avLst>
              <a:gd name="adj" fmla="val 2000"/>
            </a:avLst>
          </a:prstGeom>
          <a:solidFill>
            <a:srgbClr val="121B32"/>
          </a:solidFill>
          <a:ln w="9525">
            <a:solidFill>
              <a:srgbClr val="182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WHAT MAKES THE NUMBERS 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AI scope drafting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2-4 hrs / engagement back to the auditor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074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CCCE structuring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3492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30 min / finding back to the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074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Auto-escalation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3492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Issues never sit &gt; 30 days in silence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074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Live committee pack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3492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0 prep weeks per quarter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>
                <a:solidFill>
                  <a:srgbClr val="F8FAFC"/>
                </a:solidFill>
                <a:latin typeface="Calibri"/>
              </a:rPr>
              <a:t>Let's run</a:t>
            </a:r>
          </a:p>
          <a:p>
            <a:pPr algn="l">
              <a:lnSpc>
                <a:spcPct val="95000"/>
              </a:lnSpc>
            </a:pPr>
            <a:r>
              <a:rPr sz="5200" b="1">
                <a:solidFill>
                  <a:srgbClr val="F8FAFC"/>
                </a:solidFill>
                <a:latin typeface="Calibri"/>
              </a:rPr>
              <a:t>your next audit</a:t>
            </a:r>
          </a:p>
          <a:p>
            <a:pPr algn="l">
              <a:lnSpc>
                <a:spcPct val="95000"/>
              </a:lnSpc>
            </a:pPr>
            <a:r>
              <a:rPr sz="5200" b="1">
                <a:solidFill>
                  <a:srgbClr val="F8FAFC"/>
                </a:solidFill>
                <a:latin typeface="Calibri"/>
              </a:rPr>
              <a:t>on AuditVerse.AI.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90-minute pilot scoping. We bring 2 reference engagements; you bring your real universe and a recent finding.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49240"/>
            <a:ext cx="1965960" cy="9144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4406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8FAFC"/>
                </a:solidFill>
                <a:latin typeface="Calibri"/>
              </a:rPr>
              <a:t>Scoping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715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60 min · your team + 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349240"/>
            <a:ext cx="1965960" cy="9144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440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4406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8FAFC"/>
                </a:solidFill>
                <a:latin typeface="Calibri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715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30 days · 2 engagements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5349240"/>
            <a:ext cx="1965960" cy="9144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440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4406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8FAFC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715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Roll out or walk away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914400"/>
            <a:ext cx="3931920" cy="534924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1887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82F6"/>
                </a:solidFill>
                <a:latin typeface="Calibri"/>
              </a:rPr>
              <a:t>AUDITVERSE.AI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5087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8FAFC"/>
                </a:solidFill>
                <a:latin typeface="Calibri"/>
              </a:rPr>
              <a:t>Audit Management Platform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2103120"/>
            <a:ext cx="3383280" cy="0"/>
          </a:xfrm>
          <a:prstGeom prst="line">
            <a:avLst/>
          </a:prstGeom>
          <a:ln w="6350">
            <a:solidFill>
              <a:srgbClr val="182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0" y="23774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PILOT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51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pilot@auditverse.ai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46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520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solutions@auditverse.ai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114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389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auditverse.ai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98347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4748B"/>
                </a:solidFill>
                <a:latin typeface="Calibri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25779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+1 (555) 014-0210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AuditVerse.AI  ·  Audit Management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